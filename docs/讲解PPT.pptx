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3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0286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老师好，我是【姓名】。我做的题目是「词法分析器与 LALR(1) 语法分析器生成系统」，任务书里两项必做任务、第三项 mini-C 整体测试和选做的四元式都做完了。接下来 15 分钟，我不逐条念功能，只讲三件事：为什么这么设计、关键算法怎么落地、以及怎么证明它是对的。中间会有两段实机演示。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我按四个部分讲：第一部分花 1 分钟交代做了什么；第二部分是重点，用 5 分钟讲三个关键技术决定；第三部分 3 分钟演示系统；最后 3 分钟讲测试结果和我认为的不足。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先看完成度。任务书第一项 11 条、第二项 11 条要求，加上第三项 mini-C 测试和选做的中间代码，全部实现，界面上一共 15 个功能页签，与要求一一对应。测试顺序也按任务书来：先 TINY 后 mini-C。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整个系统分三层。最上面是界面层，中间是两条任务流水线，下面是公共层。这里有一个刻意的决定：算法层只依赖 QtCore，一行界面代码都没有。带来的好处是它能脱离窗口跑，所以我可以把全部算法写成命令行断言；而界面自测又是直接调用按钮背后的同一个函数，等于同一份逻辑被验证了两次。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这是我认为最关键的一个决定。任务书里 letter=[A-Za-z] 是 52 个字符，如果按 256 个字节建自动机，子集构造要 31 秒，状态表 258 列根本没法看。我的做法是把正则里每一处字符集当成一个「原子」，两个字节只要在所有原子里出现的情况完全相同，它们在自动机里就是同一个输入符号。TINY 压成了 18 个类，NFA 从 1563 个状态降到 67 个。这不是近似——我用 256 个转移逐项比对过，识别语言完全一样。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流水线本身是教科书流程：Thompson 构造出 67 个状态的 NFA，子集构造收缩到 26 个，划分法再压到 24 个。这里只有一个容易做错的地方：最小化时不能只按「接受/非接受」分组，否则编码 100 和 101 的接受态会被合并，识别结果就错了。所以初始划分里我又按编码细分了一次。④ 页签把每一轮划分都列出来了，可以对着看。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词法程序的输出格式我冻结成「编码 + 值」：ID 带引号、NUM 保留前导零、关键字和符号只写编码、注释不输出、末行 EOF。任务书要求转换方法一或方法二二选一，我把两种都实现了，可以对照。识别时按最长匹配走，关键字最后用查表把 ID 改判成关键字编码，这样 if 就不会被当成标识符。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【此处切到系统实机演示，约 60~90 秒】操作顺序：选 TINY，点工具栏「完整词法流水线」，程序会自动解析规格、构造 NFA/DFA、最小化、生成源码、调 g++ 编译并跑 sample.tny。先看 ④ 页签的合并关系，再看 ⑥ 页签的单词编码——96 行，末行 EOF。演示完回到 PPT。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第二项任务的分量在这里。任务书要的是 LALR(1)。我的实现是完整的 LR(1)：每个项目带向前看符号，然后把核心相同的项目集合并成 LALR(1)，合并后向前看取并集还要继续传播到不动点。TINY 最后是 58 个状态，ACTION 357 项、GOTO 75 项，**没有冲突**。为了说明这不是运气，我又实现了 LR(0) 和 SLR(1) 两种填表方式，在 ⑫ 页签可以切换对比，它们是有冲突的。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分析表是标准的 ACTION/GOTO。填表时有个原则：出现冲突必须列出来，不能悄悄选一个。mini-C 的文法本身有 1 处冲突，⑫ 页签下方会明确给出状态、符号和两条候选产生式。语法分析阶段读第一项任务产出的 .lex，TINY 样例 298 步分析完，建出 76 个结点的树。树的结构不是写死在代码里的，而是由「语义动作文件」一行一条规则定义，界面上可以编辑。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语法树这块我改过一版。最初是手绘控件，76 个结点被画在 69×14 像素的角落里，放大也看不清。原因有两个：布局返回的是逻辑单位却被当成像素用，「适应窗口」又用控件自身尺寸算比例，等于永远 95%。后来改成像素布局，量字体宽度算结点框，再把视图换成 QGraphicsView，就有了滚轮缩放和拖动。这也说明——界面问题也得靠断言守，现在有 G14b~d 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选做部分我做的是四元式。做法是对语法树做归纳翻译：先递归翻译子结点，再按当前结点的标签生成代码，赋值、二元运算、if/while/for、函数边界各有模板，标号和临时变量自动编号。TINY 生成 40 条，mini-C 生成 27 条，都能导出成表格。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【此处切到系统实机演示，约 60 秒】切到 mini-C，点「完整语法流水线」：先看 ⑫ 分析表，注意冲突明细里那 1 处；再看 ⑬ 逐行的状态栈、符号栈、输入和动作；最后 ⑭ 的树，mini-C 是 92 个结点。演示完回到 PPT。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最后是「怎么证明它是对的」。我把测试做成两层：算法层 304 条断言，界面层 346 条，都带编号、能一条命令重跑。数据上说两个：生成的 .lex 和老师给的参考输出逐词比对，96 和 79 个单词全一致；性能上子集构造从 31 秒优化到 1.5 秒。16 条记录在案的真实缺陷，每条都有断言守住，不会再犯。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总结一下。我认为三个亮点是可无头验证、字符类字母表、文档可复现；不足也照实说：mini-C 那处冲突我只做到报告加默认消解，没实现「拒绝生成并提示改文法」；选做只做了四元式；界面样式比较朴素。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我的讲解结束。系统可以一键构建、一键自测；三份文档在 docs 目录里，其中使用说明书和测试报告全文附在报告书的附录 A、B。谢谢老师。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105156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华南师范大学计算机学院 · 编译原理课程设计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9164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4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编译原理课程设计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651760"/>
            <a:ext cx="1024128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3000" b="1">
                <a:solidFill>
                  <a:srgbClr val="1A5FB4"/>
                </a:solidFill>
                <a:latin typeface="微软雅黑"/>
                <a:ea typeface="微软雅黑"/>
                <a:cs typeface="微软雅黑"/>
              </a:rPr>
              <a:t>词法分析器与 LALR(1) 语法分析器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3000" b="1">
                <a:solidFill>
                  <a:srgbClr val="1A5FB4"/>
                </a:solidFill>
                <a:latin typeface="微软雅黑"/>
                <a:ea typeface="微软雅黑"/>
                <a:cs typeface="微软雅黑"/>
              </a:rPr>
              <a:t>生成系统的设计与实现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4069080"/>
            <a:ext cx="2011680" cy="4572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434340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7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姓　　名：</a:t>
            </a:r>
            <a:r>
              <a:rPr lang="zh-CN" altLang="en-US" sz="17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王文挺</a:t>
            </a:r>
            <a:r>
              <a:rPr sz="17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　　　学　　号：</a:t>
            </a:r>
            <a:r>
              <a:rPr lang="en-US" sz="17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202421315063</a:t>
            </a:r>
            <a:endParaRPr sz="1700" b="0" dirty="0">
              <a:solidFill>
                <a:srgbClr val="262626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7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班　　级：</a:t>
            </a:r>
            <a:r>
              <a:rPr lang="zh-CN" altLang="en-US" sz="17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计科</a:t>
            </a:r>
            <a:r>
              <a:rPr lang="en-US" altLang="zh-CN" sz="17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</a:t>
            </a:r>
            <a:r>
              <a:rPr lang="zh-CN" altLang="en-US" sz="17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班</a:t>
            </a:r>
            <a:r>
              <a:rPr sz="17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　　　</a:t>
            </a:r>
            <a:r>
              <a:rPr sz="1700" b="0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指导教师</a:t>
            </a:r>
            <a:r>
              <a:rPr sz="17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17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黄煜廉</a:t>
            </a:r>
            <a:endParaRPr sz="1700" b="0" dirty="0">
              <a:solidFill>
                <a:srgbClr val="2626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58978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C++17 · Qt 6.10.2 · MinGW GCC 13.1.0 · 2026 年 12 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1097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《编译原理》课程设计 · 词法分析器与 LALR(1) 语法分析器生成系统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8575" y="6355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今天只讲四件事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4937760" cy="1965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91440" cy="196596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801368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①  任务与完成度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13432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A5FB4"/>
                </a:solidFill>
                <a:latin typeface="微软雅黑"/>
                <a:ea typeface="微软雅黑"/>
                <a:cs typeface="微软雅黑"/>
              </a:rPr>
              <a:t>1 分钟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97480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两项任务 + mini-C + 选做，全部完成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00200"/>
            <a:ext cx="4937760" cy="1965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600200"/>
            <a:ext cx="91440" cy="196596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801368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②  三个关键决定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13432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A5FB4"/>
                </a:solidFill>
                <a:latin typeface="微软雅黑"/>
                <a:ea typeface="微软雅黑"/>
                <a:cs typeface="微软雅黑"/>
              </a:rPr>
              <a:t>5 分钟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97480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字符类字母表 / LALR(1) 项目集 / 表驱动建树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931920"/>
            <a:ext cx="4937760" cy="1965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3931920"/>
            <a:ext cx="91440" cy="196596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4133087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③  系统演示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645152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A5FB4"/>
                </a:solidFill>
                <a:latin typeface="微软雅黑"/>
                <a:ea typeface="微软雅黑"/>
                <a:cs typeface="微软雅黑"/>
              </a:rPr>
              <a:t>3 分钟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029200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词法一键流水线、语法三步走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931920"/>
            <a:ext cx="4937760" cy="1965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3931920"/>
            <a:ext cx="91440" cy="196596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4133087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④  测试与总结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645152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A5FB4"/>
                </a:solidFill>
                <a:latin typeface="微软雅黑"/>
                <a:ea typeface="微软雅黑"/>
                <a:cs typeface="微软雅黑"/>
              </a:rPr>
              <a:t>3 分钟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029200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lang="zh-CN" altLang="en-US" sz="1500" b="0" dirty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测试所有样本均成功</a:t>
            </a:r>
            <a:endParaRPr sz="1500" b="0" dirty="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1097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《编译原理》课程设计 · 词法分析器与 LALR(1) 语法分析器生成系统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8575" y="6355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任务书要求：两项必做 + mini-C + 选做，全部完成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371600"/>
          <a:ext cx="1054577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5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8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6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</a:t>
                      </a:r>
                    </a:p>
                  </a:txBody>
                  <a:tcPr marL="73152" marR="73152" marT="18288" marB="18288" anchor="ctr">
                    <a:solidFill>
                      <a:srgbClr val="1A5F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任务书要求</a:t>
                      </a:r>
                    </a:p>
                  </a:txBody>
                  <a:tcPr marL="73152" marR="73152" marT="18288" marB="18288" anchor="ctr">
                    <a:solidFill>
                      <a:srgbClr val="1A5F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对应实现</a:t>
                      </a:r>
                    </a:p>
                  </a:txBody>
                  <a:tcPr marL="73152" marR="73152" marT="18288" marB="18288" anchor="ctr">
                    <a:solidFill>
                      <a:srgbClr val="1A5F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marL="73152" marR="73152" marT="18288" marB="18288" anchor="ctr">
                    <a:solidFill>
                      <a:srgbClr val="1A5F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第一项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1.1~1.11  词法分析生成器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①~⑥ 六个页签，两种转换方法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第二项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2.1~2.10  LALR(1) 语法分析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⑦~⑭ 八个页签，含语义动作编辑器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第三项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以 mini-C 做整体测试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自编 sample.mc（79 个单词）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选做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2.11  生成中间代码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⑮ 四元式（TINY 40 条 / mini-C 27 条）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892040"/>
            <a:ext cx="10545775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测试顺序严格按任务书</a:t>
            </a:r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：先用 TINY 的词法与语法各测一轮，再用 mini-C 做全系统测试。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91072"/>
            <a:ext cx="10545775" cy="1097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《编译原理》课程设计 · 词法分析器与 LALR(1) 语法分析器生成系统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355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三层分离：算法层不认识界面，所以能自动验证</a:t>
            </a:r>
          </a:p>
        </p:txBody>
      </p:sp>
      <p:pic>
        <p:nvPicPr>
          <p:cNvPr id="4" name="Picture 3" descr="fig_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28784"/>
            <a:ext cx="6035040" cy="20004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586983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系统总体结构：界面层 / 任务层 / 公共层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1417320"/>
            <a:ext cx="44805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7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算法只依赖 QtCore</a:t>
            </a:r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，不出现任何 QWidget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2286000"/>
            <a:ext cx="44805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界面只做「取参数 → 调算法 → 显示结果」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3154680"/>
            <a:ext cx="44805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自测走</a:t>
            </a:r>
            <a:r>
              <a:rPr sz="17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与按钮点击完全相同</a:t>
            </a:r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的代码路径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4023359"/>
            <a:ext cx="44805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15 个页签顺序由断言 G1b 守住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1097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《编译原理》课程设计 · 词法分析器与 LALR(1) 语法分析器生成系统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8575" y="6355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关键决定一：把 256 个字节压成 18 个字符类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按“正则里写了哪些字符集”做等价类划分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3332378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1000"/>
              </a:spcAft>
            </a:pPr>
            <a:r>
              <a:rPr sz="4000" b="1">
                <a:solidFill>
                  <a:srgbClr val="1A5FB4"/>
                </a:solidFill>
                <a:latin typeface="微软雅黑"/>
                <a:ea typeface="微软雅黑"/>
                <a:cs typeface="微软雅黑"/>
              </a:rPr>
              <a:t>256 →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333237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输入符号（字符类）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38218" y="1554480"/>
            <a:ext cx="3332378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1000"/>
              </a:spcAft>
            </a:pPr>
            <a:r>
              <a:rPr sz="4000" b="1">
                <a:solidFill>
                  <a:srgbClr val="1A5FB4"/>
                </a:solidFill>
                <a:latin typeface="微软雅黑"/>
                <a:ea typeface="微软雅黑"/>
                <a:cs typeface="微软雅黑"/>
              </a:rPr>
              <a:t>1563 → 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38218" y="2331720"/>
            <a:ext cx="333237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NFA 状态数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53476" y="1554480"/>
            <a:ext cx="3332378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1000"/>
              </a:spcAft>
            </a:pPr>
            <a:r>
              <a:rPr sz="4000" b="1">
                <a:solidFill>
                  <a:srgbClr val="1A5FB4"/>
                </a:solidFill>
                <a:latin typeface="微软雅黑"/>
                <a:ea typeface="微软雅黑"/>
                <a:cs typeface="微软雅黑"/>
              </a:rPr>
              <a:t>256 / 256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53476" y="2331720"/>
            <a:ext cx="333237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转移逐一比对一致</a:t>
            </a:r>
          </a:p>
        </p:txBody>
      </p:sp>
      <p:pic>
        <p:nvPicPr>
          <p:cNvPr id="11" name="Picture 10" descr="fig_1_3_d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294" y="1417320"/>
            <a:ext cx="3209730" cy="393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40880" y="5404103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子集构造（ε 闭包 + move）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63240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正则里每一处字符集 = 一个</a:t>
            </a:r>
            <a:r>
              <a:rPr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原子</a:t>
            </a: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（宏、`[..]`、转义字符、`~x`）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两个字节若属于</a:t>
            </a:r>
            <a:r>
              <a:rPr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完全相同的原子集合</a:t>
            </a: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，在所有状态下转移都相同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于是合并成</a:t>
            </a:r>
            <a:r>
              <a:rPr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一个输入符号</a:t>
            </a: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，状态表从 258 列降到 20 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1097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《编译原理》课程设计 · 词法分析器与 LALR(1) 语法分析器生成系统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8575" y="6355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一条流水线走完词法：67 → 26 → 24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228600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4000" b="1">
                <a:solidFill>
                  <a:srgbClr val="1A5FB4"/>
                </a:solidFill>
                <a:latin typeface="微软雅黑"/>
                <a:ea typeface="微软雅黑"/>
                <a:cs typeface="微软雅黑"/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NFA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920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30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554480"/>
            <a:ext cx="228600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69164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4000" b="1">
                <a:solidFill>
                  <a:srgbClr val="1A5FB4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39572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DFA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920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30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554480"/>
            <a:ext cx="228600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69164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4000" b="1">
                <a:solidFill>
                  <a:srgbClr val="1A5FB4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9572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最小化 DFA</a:t>
            </a:r>
          </a:p>
        </p:txBody>
      </p:sp>
      <p:pic>
        <p:nvPicPr>
          <p:cNvPr id="15" name="Picture 14" descr="fig_dataflow_l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1038" y="1371600"/>
            <a:ext cx="2489003" cy="4206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5632703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词法流水线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29000"/>
            <a:ext cx="76809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7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子集构造</a:t>
            </a:r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：ε 闭包 + move，按字符类迭代，状态按发现顺序编号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51960"/>
            <a:ext cx="76809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7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最小化</a:t>
            </a:r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：划分法；接受态</a:t>
            </a:r>
            <a:r>
              <a:rPr sz="17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按单词编码再细分</a:t>
            </a:r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，不同编码不可合并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76809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划分过程与合并关系都显示在④页签，可逐轮对照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1097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《编译原理》课程设计 · 词法分析器与 LALR(1) 语法分析器生成系统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88575" y="6355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生成的词法程序：最长匹配 + 关键字查表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5943600" cy="214884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1536192"/>
            <a:ext cx="5541264" cy="1819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109            ← read（关键字编码）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101 "xXx"      ← 标识符，值带引号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215            ← :=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100 001        ← 整数，保留前导零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EOF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sample.lex（两项任务之间的唯一接口）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1371600"/>
            <a:ext cx="438912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两种转换方法</a:t>
            </a:r>
            <a:r>
              <a:rPr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都实现</a:t>
            </a: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：Judgechar/GetToken 与 switch(state)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2331720"/>
            <a:ext cx="438912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走不动时</a:t>
            </a:r>
            <a:r>
              <a:rPr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回退到最后一个接受态</a:t>
            </a: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（最长匹配）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3291840"/>
            <a:ext cx="438912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ID 再</a:t>
            </a:r>
            <a:r>
              <a:rPr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查关键字表改判</a:t>
            </a: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，注释不输出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4251960"/>
            <a:ext cx="438912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生成的程序自包含，用命令行参数，换目录也能跑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291072"/>
            <a:ext cx="10545775" cy="1097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《编译原理》课程设计 · 词法分析器与 LALR(1) 语法分析器生成系统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8575" y="6355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演示①：TINY 词法一键跑通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① 打开规格 → 一键流水线 → ④ 看最小化 → ⑥ 看 .lex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49824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④ 最小化 DFA：状态表 + 划分过程与合并关系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49824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⑥ 编译与词法测试：编译输出 / 运行输出 / .lex 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10545775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A5FB4"/>
                </a:solidFill>
                <a:latin typeface="微软雅黑"/>
                <a:ea typeface="微软雅黑"/>
                <a:cs typeface="微软雅黑"/>
              </a:rPr>
              <a:t>TINY 样例 96 个单词；mini-C 样例 79 个单词，均与老师给的参考输出</a:t>
            </a:r>
            <a:r>
              <a:rPr sz="1500" b="1">
                <a:solidFill>
                  <a:srgbClr val="1A5FB4"/>
                </a:solidFill>
                <a:latin typeface="微软雅黑"/>
                <a:ea typeface="微软雅黑"/>
                <a:cs typeface="微软雅黑"/>
              </a:rPr>
              <a:t>逐词一致</a:t>
            </a:r>
            <a:r>
              <a:rPr sz="1500" b="0">
                <a:solidFill>
                  <a:srgbClr val="1A5FB4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1097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《编译原理》课程设计 · 词法分析器与 LALR(1) 语法分析器生成系统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8575" y="6355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关键决定二：LR(1) 再合并同心集，得到 LALR(1)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任务书要求 LALR(1)，不是 SLR(1)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3332378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1000"/>
              </a:spcAft>
            </a:pPr>
            <a:r>
              <a:rPr sz="4000" b="1">
                <a:solidFill>
                  <a:srgbClr val="1A5FB4"/>
                </a:solidFill>
                <a:latin typeface="微软雅黑"/>
                <a:ea typeface="微软雅黑"/>
                <a:cs typeface="微软雅黑"/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333237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LALR(1) 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38218" y="1463040"/>
            <a:ext cx="3332378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1000"/>
              </a:spcAft>
            </a:pPr>
            <a:r>
              <a:rPr sz="4000" b="1">
                <a:solidFill>
                  <a:srgbClr val="1A5FB4"/>
                </a:solidFill>
                <a:latin typeface="微软雅黑"/>
                <a:ea typeface="微软雅黑"/>
                <a:cs typeface="微软雅黑"/>
              </a:rPr>
              <a:t>357 / 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38218" y="2240280"/>
            <a:ext cx="333237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ACTION / GOTO 表项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53476" y="1463040"/>
            <a:ext cx="3332378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1000"/>
              </a:spcAft>
            </a:pPr>
            <a:r>
              <a:rPr sz="4000" b="1">
                <a:solidFill>
                  <a:srgbClr val="1A5FB4"/>
                </a:solidFill>
                <a:latin typeface="微软雅黑"/>
                <a:ea typeface="微软雅黑"/>
                <a:cs typeface="微软雅黑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53476" y="2240280"/>
            <a:ext cx="333237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冲突数</a:t>
            </a:r>
          </a:p>
        </p:txBody>
      </p:sp>
      <p:pic>
        <p:nvPicPr>
          <p:cNvPr id="11" name="Picture 10" descr="fig_2_4_lal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650" y="1371600"/>
            <a:ext cx="1833339" cy="4023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0" y="5449824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LR(1) 项目集 → 同心集合并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17520"/>
            <a:ext cx="603504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LR(0) 项目 → 加</a:t>
            </a:r>
            <a:r>
              <a:rPr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向前看符号</a:t>
            </a: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变 LR(1) → </a:t>
            </a:r>
            <a:r>
              <a:rPr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同核心项目集合并</a:t>
            </a: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变 LALR(1)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58768"/>
            <a:ext cx="603504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合并后向前看取并集，需</a:t>
            </a:r>
            <a:r>
              <a:rPr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传播到不动点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00016"/>
            <a:ext cx="603504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⑫ 页签可切 </a:t>
            </a:r>
            <a:r>
              <a:rPr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LR(0) / SLR(1) / LALR(1)</a:t>
            </a: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对照：只有 LALR(1) 无冲突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1097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《编译原理》课程设计 · 词法分析器与 LALR(1) 语法分析器生成系统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8575" y="6355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分析表可用：298 步分析，建出 76 个结点的树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86983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⑫ ACTION/GOTO 表与冲突明细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554480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1000"/>
              </a:spcAft>
            </a:pPr>
            <a:r>
              <a:rPr sz="3200" b="1">
                <a:solidFill>
                  <a:srgbClr val="1A5FB4"/>
                </a:solidFill>
                <a:latin typeface="微软雅黑"/>
                <a:ea typeface="微软雅黑"/>
                <a:cs typeface="微软雅黑"/>
              </a:rPr>
              <a:t>298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33172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分析步数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880360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1000"/>
              </a:spcAft>
            </a:pPr>
            <a:r>
              <a:rPr sz="3200" b="1">
                <a:solidFill>
                  <a:srgbClr val="1A5FB4"/>
                </a:solidFill>
                <a:latin typeface="微软雅黑"/>
                <a:ea typeface="微软雅黑"/>
                <a:cs typeface="微软雅黑"/>
              </a:rPr>
              <a:t>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36576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语法树结点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4206240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1000"/>
              </a:spcAft>
            </a:pPr>
            <a:r>
              <a:rPr sz="3200" b="1">
                <a:solidFill>
                  <a:srgbClr val="1A5FB4"/>
                </a:solidFill>
                <a:latin typeface="微软雅黑"/>
                <a:ea typeface="微软雅黑"/>
                <a:cs typeface="微软雅黑"/>
              </a:rPr>
              <a:t>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4983479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叶结点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4572000"/>
            <a:ext cx="39319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表驱动：移进 / 规约 / 接受 / 报错四类动作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5138928"/>
            <a:ext cx="39319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3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语义动作文件</a:t>
            </a: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定义每条文法规则建什么结点，用户可编辑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1097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《编译原理》课程设计 · 词法分析器与 LALR(1) 语法分析器生成系统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88575" y="6355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语法树是“画”出来的：能缩放、能拖动、能导出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15583"/>
            <a:ext cx="7406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⑭ 语法树：左侧树状绘制（自动适应窗口），右侧语义动作编辑器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463040"/>
            <a:ext cx="301752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适应窗口</a:t>
            </a: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：默认按视口算比例，缩小到能看全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514600"/>
            <a:ext cx="301752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滚轮</a:t>
            </a:r>
            <a:r>
              <a:rPr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以光标为锚点</a:t>
            </a: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缩放（2%~800%），按住左键拖动平移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3566160"/>
            <a:ext cx="301752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三种导出：缩进文本 / 括号表示 / DOT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4617720"/>
            <a:ext cx="301752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曾经「缩在左上角成一团」——改为</a:t>
            </a:r>
            <a:r>
              <a:rPr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像素布局 + QGraphicsView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1097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《编译原理》课程设计 · 词法分析器与 LALR(1) 语法分析器生成系统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8575" y="6355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选做：语法树 → 四元式（40 条 / 27 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32703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⑮ 中间代码：四元式表与统计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08760"/>
            <a:ext cx="365760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归纳翻译</a:t>
            </a: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：先算子结点，再按标签生成代码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468880"/>
            <a:ext cx="365760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赋值 / 二元运算 / 控制流 / 函数边界分别有模板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429000"/>
            <a:ext cx="365760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空树</a:t>
            </a:r>
            <a:r>
              <a:rPr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给告警不崩溃</a:t>
            </a: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，可导出制表符文本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389120"/>
            <a:ext cx="365760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TINY 40 条（临时变量 6、标号 11）；mini-C 27 条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1097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《编译原理》课程设计 · 词法分析器与 LALR(1) 语法分析器生成系统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8575" y="6355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演示②：语法分析三步走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⑫ 分析表 → ⑬ 分析过程 → ⑭ 语法树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18303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⑫ 分析表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8" y="4718303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⑬ 逐行分析过程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992" y="4718303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⑭ 语法树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3776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从文法到树只需三步：载入并化简 → 生成分析表 → 读 .lex 分析建树；mini-C 同样流程，得到 92 个结点的树。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291072"/>
            <a:ext cx="10545775" cy="1097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《编译原理》课程设计 · 词法分析器与 LALR(1) 语法分析器生成系统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8575" y="6355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敢改代码，是因为有断言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两层自动化 + 与老师参考数据逐词比对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2453563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1000"/>
              </a:spcAft>
            </a:pPr>
            <a:r>
              <a:rPr sz="3800" b="1">
                <a:solidFill>
                  <a:srgbClr val="1A5FB4"/>
                </a:solidFill>
                <a:latin typeface="微软雅黑"/>
                <a:ea typeface="微软雅黑"/>
                <a:cs typeface="微软雅黑"/>
              </a:rPr>
              <a:t>304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2453563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算法断言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59403" y="1508760"/>
            <a:ext cx="2453563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1000"/>
              </a:spcAft>
            </a:pPr>
            <a:r>
              <a:rPr sz="3800" b="1">
                <a:solidFill>
                  <a:srgbClr val="1A5FB4"/>
                </a:solidFill>
                <a:latin typeface="微软雅黑"/>
                <a:ea typeface="微软雅黑"/>
                <a:cs typeface="微软雅黑"/>
              </a:rPr>
              <a:t>346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9403" y="2286000"/>
            <a:ext cx="2453563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界面断言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1508760"/>
            <a:ext cx="2453563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1000"/>
              </a:spcAft>
            </a:pPr>
            <a:r>
              <a:rPr sz="3800" b="1">
                <a:solidFill>
                  <a:srgbClr val="1A5FB4"/>
                </a:solidFill>
                <a:latin typeface="微软雅黑"/>
                <a:ea typeface="微软雅黑"/>
                <a:cs typeface="微软雅黑"/>
              </a:rPr>
              <a:t>96 / 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2286000"/>
            <a:ext cx="2453563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单词逐词一致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291" y="1508760"/>
            <a:ext cx="2453563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1000"/>
              </a:spcAft>
            </a:pPr>
            <a:r>
              <a:rPr sz="3800" b="1">
                <a:solidFill>
                  <a:srgbClr val="1A5FB4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291" y="2286000"/>
            <a:ext cx="2453563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缺陷全部闭环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051560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算法层 `--console-selftest`；界面层 `--selftest` 走真实按钮路径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79392"/>
            <a:ext cx="1051560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7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性能</a:t>
            </a:r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：子集构造 31 秒 → 约 1.5 秒；整套自测 192 秒 → 17~39 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92624"/>
            <a:ext cx="1051560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典型缺陷：两套 MinGW 导致 cc1plus 找不到、字符类改造、页签被搬走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05856"/>
            <a:ext cx="1051560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构建 0 error 0 warning；全仓 99 个文本文件编码检查 0 不合规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1097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《编译原理》课程设计 · 词法分析器与 LALR(1) 语法分析器生成系统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8575" y="6355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亮点与不足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5120640" cy="4206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5087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1A5FB4"/>
                </a:solidFill>
                <a:latin typeface="微软雅黑"/>
                <a:ea typeface="微软雅黑"/>
                <a:cs typeface="微软雅黑"/>
              </a:rPr>
              <a:t>我认为的三个亮点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011680"/>
            <a:ext cx="44805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可无头验证</a:t>
            </a: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：算法与界面分离，回归一条命令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063240"/>
            <a:ext cx="44805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字符类字母表</a:t>
            </a: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：规模降一个数量级，语言等价可证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114800"/>
            <a:ext cx="44805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文档可复现</a:t>
            </a: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：表格数据、截图、代码段均由脚本生成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120640" cy="4206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15087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三点不足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11680"/>
            <a:ext cx="44805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mini-C 那 1 处冲突只</a:t>
            </a:r>
            <a:r>
              <a:rPr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报告并默认消解</a:t>
            </a: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，没做严格模式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063240"/>
            <a:ext cx="44805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中间代码只做了</a:t>
            </a:r>
            <a:r>
              <a:rPr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四元式</a:t>
            </a: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，没做三元组/伪代码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114800"/>
            <a:ext cx="44805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▍ 界面样式偏朴素，高 DPI 未专门优化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1097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《编译原理》课程设计 · 词法分析器与 LALR(1) 语法分析器生成系统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88575" y="6355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45775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谢谢，请老师批评指正</a:t>
            </a:r>
          </a:p>
        </p:txBody>
      </p:sp>
      <p:sp>
        <p:nvSpPr>
          <p:cNvPr id="4" name="Rectangle 3"/>
          <p:cNvSpPr/>
          <p:nvPr/>
        </p:nvSpPr>
        <p:spPr>
          <a:xfrm>
            <a:off x="5090007" y="3063240"/>
            <a:ext cx="201168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45775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60000"/>
              </a:lnSpc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一键复现：tools\build.ps1 → CompilerCourseDesign.exe → --selftest</a:t>
            </a:r>
          </a:p>
          <a:p>
            <a:pPr algn="ctr">
              <a:lnSpc>
                <a:spcPct val="160000"/>
              </a:lnSpc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三份文档：实验报告书 / 系统使用说明书 / 测试报告（附录 A、B）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91072"/>
            <a:ext cx="10545775" cy="1097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《编译原理》课程设计 · 词法分析器与 LALR(1) 语法分析器生成系统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355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10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1617</Words>
  <Application>Microsoft Office PowerPoint</Application>
  <PresentationFormat>宽屏</PresentationFormat>
  <Paragraphs>203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文挺 王</cp:lastModifiedBy>
  <cp:revision>2</cp:revision>
  <dcterms:created xsi:type="dcterms:W3CDTF">2013-01-27T09:14:16Z</dcterms:created>
  <dcterms:modified xsi:type="dcterms:W3CDTF">2026-10-27T10:28:24Z</dcterms:modified>
  <cp:category/>
</cp:coreProperties>
</file>